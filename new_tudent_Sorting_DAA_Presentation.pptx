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660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8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1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7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98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92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44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10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83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230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76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68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548640"/>
            <a:ext cx="1463040" cy="14630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1920240"/>
            <a:ext cx="731520" cy="731520"/>
          </a:xfrm>
          <a:prstGeom prst="ellipse">
            <a:avLst/>
          </a:prstGeom>
          <a:solidFill>
            <a:srgbClr val="F5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778240" y="2743200"/>
            <a:ext cx="1005840" cy="1005840"/>
          </a:xfrm>
          <a:prstGeom prst="ellipse">
            <a:avLst/>
          </a:prstGeom>
          <a:solidFill>
            <a:srgbClr val="2B5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0" y="4114800"/>
            <a:ext cx="1371600" cy="1371600"/>
          </a:xfrm>
          <a:prstGeom prst="ellipse">
            <a:avLst/>
          </a:prstGeom>
          <a:solidFill>
            <a:srgbClr val="344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9688"/>
                </a:solidFill>
                <a:latin typeface="Aptos"/>
              </a:defRPr>
            </a:pPr>
            <a:r>
              <a:t>DESIGN AND ANALYSIS OF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STUDENT</a:t>
            </a:r>
            <a:br/>
            <a:r>
              <a:t>SORTING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7132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DCE6F5"/>
                </a:solidFill>
                <a:latin typeface="Aptos"/>
              </a:defRPr>
            </a:pPr>
            <a:r>
              <a:rPr dirty="0"/>
              <a:t>Applying sorting algorithms to student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4924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Presented by: </a:t>
            </a:r>
            <a:r>
              <a:rPr dirty="0" smtClean="0"/>
              <a:t>__</a:t>
            </a:r>
            <a:r>
              <a:rPr lang="en-US" dirty="0" err="1" smtClean="0"/>
              <a:t>Rakholiya</a:t>
            </a:r>
            <a:r>
              <a:rPr lang="en-US" dirty="0" smtClean="0"/>
              <a:t> </a:t>
            </a:r>
            <a:r>
              <a:rPr lang="en-US" dirty="0" err="1" smtClean="0"/>
              <a:t>parthil</a:t>
            </a:r>
            <a:r>
              <a:rPr lang="en-US" dirty="0"/>
              <a:t> </a:t>
            </a:r>
            <a:r>
              <a:rPr dirty="0" smtClean="0"/>
              <a:t>  </a:t>
            </a:r>
            <a:r>
              <a:rPr lang="en-US" dirty="0" smtClean="0"/>
              <a:t>NO:</a:t>
            </a:r>
            <a:r>
              <a:rPr dirty="0" smtClean="0"/>
              <a:t>_</a:t>
            </a:r>
            <a:r>
              <a:rPr lang="en-US" dirty="0" smtClean="0"/>
              <a:t>12402080601103</a:t>
            </a:r>
            <a:r>
              <a:rPr dirty="0" smtClean="0"/>
              <a:t>_________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68680" y="5989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4C3DA"/>
                </a:solidFill>
                <a:latin typeface="Aptos"/>
              </a:defRPr>
            </a:pPr>
            <a:r>
              <a:t>A practical example of algorithm design and efficiency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747"/>
                </a:solidFill>
                <a:latin typeface="Aptos"/>
              </a:defRPr>
            </a:pPr>
            <a:r>
              <a:t>1. Introduction to Student Sorting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6E7D"/>
                </a:solidFill>
                <a:latin typeface="Aptos"/>
              </a:defRPr>
            </a:pPr>
            <a:r>
              <a:t>What does sorting mean in a student management system?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8303C"/>
                </a:solidFill>
                <a:latin typeface="Aptos"/>
              </a:defRPr>
            </a:pPr>
            <a:r>
              <a:t>Student sorting means arranging student records in a specific order.</a:t>
            </a:r>
          </a:p>
          <a:p>
            <a:pPr>
              <a:spcAft>
                <a:spcPts val="1200"/>
              </a:spcAft>
              <a:defRPr sz="2100">
                <a:solidFill>
                  <a:srgbClr val="28303C"/>
                </a:solidFill>
                <a:latin typeface="Aptos"/>
              </a:defRPr>
            </a:pPr>
            <a:r>
              <a:t>Records can be sorted by marks, roll number, name, or attendance.</a:t>
            </a:r>
          </a:p>
          <a:p>
            <a:pPr>
              <a:spcAft>
                <a:spcPts val="1200"/>
              </a:spcAft>
              <a:defRPr sz="2100">
                <a:solidFill>
                  <a:srgbClr val="28303C"/>
                </a:solidFill>
                <a:latin typeface="Aptos"/>
              </a:defRPr>
            </a:pPr>
            <a:r>
              <a:t>Each record contains multiple fields, such as student ID, name, and marks.</a:t>
            </a:r>
          </a:p>
          <a:p>
            <a:pPr>
              <a:spcAft>
                <a:spcPts val="1200"/>
              </a:spcAft>
              <a:defRPr sz="2100">
                <a:solidFill>
                  <a:srgbClr val="28303C"/>
                </a:solidFill>
                <a:latin typeface="Aptos"/>
              </a:defRPr>
            </a:pPr>
            <a:r>
              <a:t>Sorting makes student data easier to search, compare, and understand.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D"/>
                </a:solidFill>
                <a:latin typeface="Aptos"/>
              </a:defRPr>
            </a:pPr>
            <a:r>
              <a:t>DESIGN AND ANALYSIS OF ALGORITHMS  •  STUDENT SORTING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E7D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747"/>
                </a:solidFill>
                <a:latin typeface="Aptos"/>
              </a:defRPr>
            </a:pPr>
            <a:r>
              <a:t>2.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6E7D"/>
                </a:solidFill>
                <a:latin typeface="Aptos"/>
              </a:defRPr>
            </a:pPr>
            <a:r>
              <a:t>Example: arrange students by marks in descending order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1737360"/>
          <a:ext cx="55778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468880"/>
                <a:gridCol w="1920240"/>
              </a:tblGrid>
              <a:tr h="6400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Roll No.</a:t>
                      </a:r>
                    </a:p>
                  </a:txBody>
                  <a:tcPr marL="109728" marR="73152" anchor="ctr">
                    <a:solidFill>
                      <a:srgbClr val="1627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</a:t>
                      </a:r>
                    </a:p>
                  </a:txBody>
                  <a:tcPr marL="109728" marR="73152" anchor="ctr">
                    <a:solidFill>
                      <a:srgbClr val="1627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Marks</a:t>
                      </a:r>
                    </a:p>
                  </a:txBody>
                  <a:tcPr marL="109728" marR="73152" anchor="ctr">
                    <a:solidFill>
                      <a:srgbClr val="16274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101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Aarav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72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102</a:t>
                      </a:r>
                    </a:p>
                  </a:txBody>
                  <a:tcPr marL="109728" marR="7315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Diya</a:t>
                      </a:r>
                    </a:p>
                  </a:txBody>
                  <a:tcPr marL="109728" marR="7315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91</a:t>
                      </a:r>
                    </a:p>
                  </a:txBody>
                  <a:tcPr marL="109728" marR="73152" anchor="ctr">
                    <a:solidFill>
                      <a:srgbClr val="E8EF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103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Kabir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65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104</a:t>
                      </a:r>
                    </a:p>
                  </a:txBody>
                  <a:tcPr marL="109728" marR="7315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Meera</a:t>
                      </a:r>
                    </a:p>
                  </a:txBody>
                  <a:tcPr marL="109728" marR="73152"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84</a:t>
                      </a:r>
                    </a:p>
                  </a:txBody>
                  <a:tcPr marL="109728" marR="73152" anchor="ctr">
                    <a:solidFill>
                      <a:srgbClr val="E8EF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0" y="1874519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B5BA3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42316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303C"/>
                </a:solidFill>
                <a:latin typeface="Aptos"/>
              </a:defRPr>
            </a:pPr>
            <a:r>
              <a:t>Student records are in an unsorted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6576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09688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20624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303C"/>
                </a:solidFill>
                <a:latin typeface="Aptos"/>
              </a:defRPr>
            </a:pPr>
            <a:r>
              <a:t>Output records from highest marks to lowest marks.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D"/>
                </a:solidFill>
                <a:latin typeface="Aptos"/>
              </a:defRPr>
            </a:pPr>
            <a:r>
              <a:t>DESIGN AND ANALYSIS OF ALGORITHMS  •  STUDENT SORTING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E7D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747"/>
                </a:solidFill>
                <a:latin typeface="Aptos"/>
              </a:defRPr>
            </a:pPr>
            <a:r>
              <a:t>3. Sorting Criteria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6E7D"/>
                </a:solidFill>
                <a:latin typeface="Aptos"/>
              </a:defRPr>
            </a:pPr>
            <a:r>
              <a:t>A sorting key determines the order of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474720" cy="82296"/>
          </a:xfrm>
          <a:prstGeom prst="rect">
            <a:avLst/>
          </a:prstGeom>
          <a:solidFill>
            <a:srgbClr val="2B5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3072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747"/>
                </a:solidFill>
                <a:latin typeface="Aptos"/>
              </a:defRPr>
            </a:pPr>
            <a:r>
              <a:t>By 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50591"/>
            <a:ext cx="307238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03C"/>
                </a:solidFill>
                <a:latin typeface="Aptos"/>
              </a:defRPr>
            </a:pPr>
            <a:r>
              <a:t>Descending: highest marks first</a:t>
            </a:r>
            <a:br/>
            <a:r>
              <a:t>Ascending: lowest marks 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474720" cy="8229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3072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747"/>
                </a:solidFill>
                <a:latin typeface="Aptos"/>
              </a:defRPr>
            </a:pPr>
            <a:r>
              <a:t>By Roll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50591"/>
            <a:ext cx="307238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03C"/>
                </a:solidFill>
                <a:latin typeface="Aptos"/>
              </a:defRPr>
            </a:pPr>
            <a:r>
              <a:t>Usually ascending order, from the smallest roll number to the largest.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737360"/>
            <a:ext cx="3474720" cy="82296"/>
          </a:xfrm>
          <a:prstGeom prst="rect">
            <a:avLst/>
          </a:prstGeom>
          <a:solidFill>
            <a:srgbClr val="F5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965960"/>
            <a:ext cx="3072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747"/>
                </a:solidFill>
                <a:latin typeface="Aptos"/>
              </a:defRPr>
            </a:pPr>
            <a:r>
              <a:t>By 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450591"/>
            <a:ext cx="307238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03C"/>
                </a:solidFill>
                <a:latin typeface="Aptos"/>
              </a:defRPr>
            </a:pPr>
            <a:r>
              <a:t>Alphabetical order, such as Aarav, Diya, Kabir, Meera.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62747"/>
                </a:solidFill>
                <a:latin typeface="Aptos"/>
              </a:defRPr>
            </a:pPr>
            <a:r>
              <a:t>In this presentation, marks are used as the sorting key and the order is descending.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D"/>
                </a:solidFill>
                <a:latin typeface="Aptos"/>
              </a:defRPr>
            </a:pPr>
            <a:r>
              <a:t>DESIGN AND ANALYSIS OF ALGORITHMS  •  STUDENT SORTING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E7D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747"/>
                </a:solidFill>
                <a:latin typeface="Aptos"/>
              </a:defRPr>
            </a:pPr>
            <a:r>
              <a:t>4. Bubble Sort — Basic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6E7D"/>
                </a:solidFill>
                <a:latin typeface="Aptos"/>
              </a:defRPr>
            </a:pPr>
            <a:r>
              <a:t>Compare adjacent students and swap them when they are in the wrong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For descending marks, compare two adjacent marks.</a:t>
            </a:r>
          </a:p>
          <a:p>
            <a:pPr>
              <a:spcAft>
                <a:spcPts val="12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If the left mark is smaller than the right mark, swap the records.</a:t>
            </a:r>
          </a:p>
          <a:p>
            <a:pPr>
              <a:spcAft>
                <a:spcPts val="12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Repeat passes until the records are sorted.</a:t>
            </a:r>
          </a:p>
          <a:p>
            <a:pPr>
              <a:spcAft>
                <a:spcPts val="12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Easy to understand, but inefficient for large student lists.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46E7D"/>
                </a:solidFill>
                <a:latin typeface="Aptos"/>
              </a:defRPr>
            </a:pPr>
            <a:r>
              <a:t>Before: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4462272"/>
            <a:ext cx="822960" cy="594360"/>
          </a:xfrm>
          <a:prstGeom prst="roundRect">
            <a:avLst/>
          </a:prstGeom>
          <a:solidFill>
            <a:srgbClr val="2B5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57400" y="4590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462272"/>
            <a:ext cx="822960" cy="5943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4590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91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462272"/>
            <a:ext cx="822960" cy="594360"/>
          </a:xfrm>
          <a:prstGeom prst="roundRect">
            <a:avLst/>
          </a:prstGeom>
          <a:solidFill>
            <a:srgbClr val="2B5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4590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4462272"/>
            <a:ext cx="822960" cy="594360"/>
          </a:xfrm>
          <a:prstGeom prst="roundRect">
            <a:avLst/>
          </a:prstGeom>
          <a:solidFill>
            <a:srgbClr val="2B5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0" y="4590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8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462272"/>
            <a:ext cx="713232" cy="5943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01000" y="459028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91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4462272"/>
            <a:ext cx="713232" cy="594360"/>
          </a:xfrm>
          <a:prstGeom prst="roundRect">
            <a:avLst/>
          </a:prstGeom>
          <a:solidFill>
            <a:srgbClr val="2B5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15400" y="459028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84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4462272"/>
            <a:ext cx="713232" cy="594360"/>
          </a:xfrm>
          <a:prstGeom prst="roundRect">
            <a:avLst/>
          </a:prstGeom>
          <a:solidFill>
            <a:srgbClr val="2B5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29800" y="459028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72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4462272"/>
            <a:ext cx="713232" cy="594360"/>
          </a:xfrm>
          <a:prstGeom prst="roundRect">
            <a:avLst/>
          </a:prstGeom>
          <a:solidFill>
            <a:srgbClr val="2B5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44200" y="459028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D"/>
                </a:solidFill>
                <a:latin typeface="Aptos"/>
              </a:defRPr>
            </a:pPr>
            <a:r>
              <a:t>DESIGN AND ANALYSIS OF ALGORITHMS  •  STUDENT SORTING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E7D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747"/>
                </a:solidFill>
                <a:latin typeface="Aptos"/>
              </a:defRPr>
            </a:pPr>
            <a:r>
              <a:t>5. Algorithm / Pseudocode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6E7D"/>
                </a:solidFill>
                <a:latin typeface="Aptos"/>
              </a:defRPr>
            </a:pPr>
            <a:r>
              <a:t>Bubble Sort in descending order of 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241280" cy="3383280"/>
          </a:xfrm>
          <a:prstGeom prst="round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2057400"/>
            <a:ext cx="9418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for i = 0 to n - 2:</a:t>
            </a:r>
            <a:br/>
            <a:r>
              <a:t>    for j = 0 to n - i - 2:</a:t>
            </a:r>
            <a:br/>
            <a:r>
              <a:t>        if marks[j] &lt; marks[j + 1]:</a:t>
            </a:r>
            <a:br/>
            <a:r>
              <a:t>            swap(student[j], student[j + 1])</a:t>
            </a:r>
            <a:br/>
            <a:r>
              <a:t/>
            </a:r>
            <a:br/>
            <a:r>
              <a:t>The whole student record is swapped, not only the marks.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4068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688"/>
                </a:solidFill>
                <a:latin typeface="Aptos"/>
              </a:defRPr>
            </a:pPr>
            <a:r>
              <a:t>n = number of student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D"/>
                </a:solidFill>
                <a:latin typeface="Aptos"/>
              </a:defRPr>
            </a:pPr>
            <a:r>
              <a:t>DESIGN AND ANALYSIS OF ALGORITHMS  •  STUDENT SORTING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E7D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24282" y="3218329"/>
            <a:ext cx="47512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is example of Bubble sort used in  source code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34636" y="4537974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Arial" panose="020B0604020202020204" pitchFamily="34" charset="0"/>
              </a:rPr>
              <a:t>How Bubble Sort Works</a:t>
            </a:r>
          </a:p>
          <a:p>
            <a:r>
              <a:rPr lang="en-US" dirty="0">
                <a:latin typeface="Arial" panose="020B0604020202020204" pitchFamily="34" charset="0"/>
              </a:rPr>
              <a:t>Bubble Sort compares adjacent elements and swaps them when they are in the wrong order.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</a:rPr>
              <a:t>Start from the first student.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</a:rPr>
              <a:t>Compare two adjacent student records.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</a:rPr>
              <a:t>Swap them if they are in the wrong order.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</a:rPr>
              <a:t>Repeat until the records are sorted.</a:t>
            </a:r>
            <a:endParaRPr lang="en-US" b="0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46" y="-35858"/>
            <a:ext cx="5663947" cy="677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928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747"/>
                </a:solidFill>
                <a:latin typeface="Aptos"/>
              </a:defRPr>
            </a:pPr>
            <a:r>
              <a:t>6. Worked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6E7D"/>
                </a:solidFill>
                <a:latin typeface="Aptos"/>
              </a:defRPr>
            </a:pPr>
            <a:r>
              <a:t>Sorting marks: 72, 91, 65, 84 (descending)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91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B5BA3"/>
                </a:solidFill>
                <a:latin typeface="Aptos"/>
              </a:defRPr>
            </a:pPr>
            <a:r>
              <a:t>Initial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62747"/>
                </a:solidFill>
                <a:latin typeface="Aptos"/>
              </a:defRPr>
            </a:pPr>
            <a:r>
              <a:t>72, 91, 65, 84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13055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46E7D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157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B5BA3"/>
                </a:solidFill>
                <a:latin typeface="Aptos"/>
              </a:defRPr>
            </a:pPr>
            <a:r>
              <a:t>Pass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7157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62747"/>
                </a:solidFill>
                <a:latin typeface="Aptos"/>
              </a:defRPr>
            </a:pPr>
            <a:r>
              <a:t>91, 72, 84, 65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1546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46E7D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398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B5BA3"/>
                </a:solidFill>
                <a:latin typeface="Aptos"/>
              </a:defRPr>
            </a:pPr>
            <a:r>
              <a:t>Pass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73989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62747"/>
                </a:solidFill>
                <a:latin typeface="Aptos"/>
              </a:defRPr>
            </a:pPr>
            <a:r>
              <a:t>91, 84, 72, 65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17880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46E7D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76402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688"/>
                </a:solidFill>
                <a:latin typeface="Aptos"/>
              </a:defRPr>
            </a:pPr>
            <a:r>
              <a:t>Final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7640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2747"/>
                </a:solidFill>
                <a:latin typeface="Aptos"/>
              </a:defRPr>
            </a:pPr>
            <a:r>
              <a:t>91, 84, 72, 65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57400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8303C"/>
                </a:solidFill>
                <a:latin typeface="Aptos"/>
              </a:defRPr>
            </a:pPr>
            <a:r>
              <a:t>Sorted student list</a:t>
            </a:r>
            <a:br/>
            <a:r>
              <a:t/>
            </a:r>
            <a:br/>
            <a:r>
              <a:t>1. Diya — 91</a:t>
            </a:r>
            <a:br/>
            <a:r>
              <a:t>2. Meera — 84</a:t>
            </a:r>
            <a:br/>
            <a:r>
              <a:t>3. Aarav — 72</a:t>
            </a:r>
            <a:br/>
            <a:r>
              <a:t>4. Kabir — 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D"/>
                </a:solidFill>
                <a:latin typeface="Aptos"/>
              </a:defRPr>
            </a:pPr>
            <a:r>
              <a:t>DESIGN AND ANALYSIS OF ALGORITHMS  •  STUDENT SORTING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E7D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747"/>
                </a:solidFill>
                <a:latin typeface="Aptos"/>
              </a:defRPr>
            </a:pPr>
            <a:r>
              <a:t>7. Time and Space Complexity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6E7D"/>
                </a:solidFill>
                <a:latin typeface="Aptos"/>
              </a:defRPr>
            </a:pPr>
            <a:r>
              <a:t>How does the algorithm scale as the number of students grows?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3383280" cy="8229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11680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747"/>
                </a:solidFill>
                <a:latin typeface="Aptos"/>
              </a:defRPr>
            </a:pPr>
            <a:r>
              <a:t>Best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496312"/>
            <a:ext cx="298094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03C"/>
                </a:solidFill>
                <a:latin typeface="Aptos"/>
              </a:defRPr>
            </a:pPr>
            <a:r>
              <a:t>O(n) with an optimized version that stops when no swaps occur.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8308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783080"/>
            <a:ext cx="3383280" cy="82296"/>
          </a:xfrm>
          <a:prstGeom prst="rect">
            <a:avLst/>
          </a:prstGeom>
          <a:solidFill>
            <a:srgbClr val="2B5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2011680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747"/>
                </a:solidFill>
                <a:latin typeface="Aptos"/>
              </a:defRPr>
            </a:pPr>
            <a:r>
              <a:t>Average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496312"/>
            <a:ext cx="298094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03C"/>
                </a:solidFill>
                <a:latin typeface="Aptos"/>
              </a:defRPr>
            </a:pPr>
            <a:r>
              <a:t>O(n²) comparisons and swaps may be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783080"/>
            <a:ext cx="3383280" cy="82296"/>
          </a:xfrm>
          <a:prstGeom prst="rect">
            <a:avLst/>
          </a:prstGeom>
          <a:solidFill>
            <a:srgbClr val="F5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2011680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747"/>
                </a:solidFill>
                <a:latin typeface="Aptos"/>
              </a:defRPr>
            </a:pPr>
            <a:r>
              <a:t>Worst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496312"/>
            <a:ext cx="298094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03C"/>
                </a:solidFill>
                <a:latin typeface="Aptos"/>
              </a:defRPr>
            </a:pPr>
            <a:r>
              <a:t>O(n²) time, for example when the list is in reverse order.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891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2747"/>
                </a:solidFill>
                <a:latin typeface="Aptos"/>
              </a:defRPr>
            </a:pPr>
            <a:r>
              <a:t>Auxiliary space: O(1) — Bubble Sort sorts in place.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6E7D"/>
                </a:solidFill>
                <a:latin typeface="Aptos"/>
              </a:defRPr>
            </a:pPr>
            <a:r>
              <a:t>For large datasets, algorithms such as Merge Sort or Quick Sort are usually more efficient.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D"/>
                </a:solidFill>
                <a:latin typeface="Aptos"/>
              </a:defRPr>
            </a:pPr>
            <a:r>
              <a:t>DESIGN AND ANALYSIS OF ALGORITHMS  •  STUDENT SORTING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E7D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747"/>
                </a:solidFill>
                <a:latin typeface="Aptos"/>
              </a:defRPr>
            </a:pPr>
            <a:r>
              <a:t>8. Applications and 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515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6E7D"/>
                </a:solidFill>
                <a:latin typeface="Aptos"/>
              </a:defRPr>
            </a:pPr>
            <a:r>
              <a:t>Why student sorting is useful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5120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5120640" cy="8229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965960"/>
            <a:ext cx="47183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747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450591"/>
            <a:ext cx="4718303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03C"/>
                </a:solidFill>
                <a:latin typeface="Aptos"/>
              </a:defRPr>
            </a:pPr>
            <a:r>
              <a:t>• Rank students by exam marks</a:t>
            </a:r>
            <a:br/>
            <a:r>
              <a:t>• Sort records by roll number</a:t>
            </a:r>
            <a:br/>
            <a:r>
              <a:t>• Display names alphabetically</a:t>
            </a:r>
            <a:br/>
            <a:r>
              <a:t>• Prepare merit lists and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120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120640" cy="82296"/>
          </a:xfrm>
          <a:prstGeom prst="rect">
            <a:avLst/>
          </a:prstGeom>
          <a:solidFill>
            <a:srgbClr val="2B5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965960"/>
            <a:ext cx="47183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747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450591"/>
            <a:ext cx="4718303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03C"/>
                </a:solidFill>
                <a:latin typeface="Aptos"/>
              </a:defRPr>
            </a:pPr>
            <a:r>
              <a:t>• Makes records organized</a:t>
            </a:r>
            <a:br/>
            <a:r>
              <a:t>• Helps compare student performance</a:t>
            </a:r>
            <a:br/>
            <a:r>
              <a:t>• Supports faster review and reporting</a:t>
            </a:r>
            <a:br/>
            <a:r>
              <a:t>• Demonstrates a real use of sorting 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62747"/>
                </a:solidFill>
                <a:latin typeface="Aptos"/>
              </a:defRPr>
            </a:pPr>
            <a:r>
              <a:t>Important: Keep each student's name, roll number, and marks together while sorting.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D"/>
                </a:solidFill>
                <a:latin typeface="Aptos"/>
              </a:defRPr>
            </a:pPr>
            <a:r>
              <a:t>DESIGN AND ANALYSIS OF ALGORITHMS  •  STUDENT SORTING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E7D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9688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Student sorting is a practical application of sorting algorithms in DAA.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0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Student records can be sorted by marks, roll number, or name.</a:t>
            </a:r>
          </a:p>
          <a:p>
            <a:pPr>
              <a:spcAft>
                <a:spcPts val="9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Bubble Sort is simple and suitable for learning the sorting process.</a:t>
            </a:r>
          </a:p>
          <a:p>
            <a:pPr>
              <a:spcAft>
                <a:spcPts val="9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Its O(n²) time complexity makes it less suitable for very large datasets.</a:t>
            </a:r>
          </a:p>
          <a:p>
            <a:pPr>
              <a:spcAft>
                <a:spcPts val="9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Choosing an appropriate algorithm improves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989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B537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4C3D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697</Words>
  <Application>Microsoft Office PowerPoint</Application>
  <PresentationFormat>Widescreen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parthil rakholiya</dc:creator>
  <cp:keywords/>
  <dc:description>generated using python-pptx</dc:description>
  <cp:lastModifiedBy>Microsoft account</cp:lastModifiedBy>
  <cp:revision>4</cp:revision>
  <dcterms:created xsi:type="dcterms:W3CDTF">2013-01-27T09:14:16Z</dcterms:created>
  <dcterms:modified xsi:type="dcterms:W3CDTF">2026-10-26T16:29:58Z</dcterms:modified>
  <cp:category/>
</cp:coreProperties>
</file>